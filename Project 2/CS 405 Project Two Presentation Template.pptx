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A437BA-D675-4AF6-99A1-F0437CE1B502}" v="32" dt="2026-06-21T22:48:19.179"/>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91" y="6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Manus, Caleb" userId="b64002d7-4b16-411e-97e5-a3f8221b3ab4" providerId="ADAL" clId="{4047D61E-8E45-46D1-B377-D231C8F1A299}"/>
    <pc:docChg chg="undo custSel addSld modSld">
      <pc:chgData name="McManus, Caleb" userId="b64002d7-4b16-411e-97e5-a3f8221b3ab4" providerId="ADAL" clId="{4047D61E-8E45-46D1-B377-D231C8F1A299}" dt="2026-06-21T22:48:19.179" v="1208"/>
      <pc:docMkLst>
        <pc:docMk/>
      </pc:docMkLst>
      <pc:sldChg chg="modSp mod">
        <pc:chgData name="McManus, Caleb" userId="b64002d7-4b16-411e-97e5-a3f8221b3ab4" providerId="ADAL" clId="{4047D61E-8E45-46D1-B377-D231C8F1A299}" dt="2026-06-21T22:01:58.275" v="501" actId="20577"/>
        <pc:sldMkLst>
          <pc:docMk/>
          <pc:sldMk cId="0" sldId="260"/>
        </pc:sldMkLst>
        <pc:spChg chg="mod">
          <ac:chgData name="McManus, Caleb" userId="b64002d7-4b16-411e-97e5-a3f8221b3ab4" providerId="ADAL" clId="{4047D61E-8E45-46D1-B377-D231C8F1A299}" dt="2026-06-21T22:01:58.275" v="501" actId="20577"/>
          <ac:spMkLst>
            <pc:docMk/>
            <pc:sldMk cId="0" sldId="260"/>
            <ac:spMk id="175" creationId="{00000000-0000-0000-0000-000000000000}"/>
          </ac:spMkLst>
        </pc:spChg>
      </pc:sldChg>
      <pc:sldChg chg="modSp mod">
        <pc:chgData name="McManus, Caleb" userId="b64002d7-4b16-411e-97e5-a3f8221b3ab4" providerId="ADAL" clId="{4047D61E-8E45-46D1-B377-D231C8F1A299}" dt="2026-06-21T22:09:19.610" v="1067" actId="20577"/>
        <pc:sldMkLst>
          <pc:docMk/>
          <pc:sldMk cId="0" sldId="261"/>
        </pc:sldMkLst>
        <pc:spChg chg="mod">
          <ac:chgData name="McManus, Caleb" userId="b64002d7-4b16-411e-97e5-a3f8221b3ab4" providerId="ADAL" clId="{4047D61E-8E45-46D1-B377-D231C8F1A299}" dt="2026-06-21T22:09:19.610" v="1067" actId="20577"/>
          <ac:spMkLst>
            <pc:docMk/>
            <pc:sldMk cId="0" sldId="261"/>
            <ac:spMk id="182" creationId="{00000000-0000-0000-0000-000000000000}"/>
          </ac:spMkLst>
        </pc:spChg>
      </pc:sldChg>
      <pc:sldChg chg="modSp mod">
        <pc:chgData name="McManus, Caleb" userId="b64002d7-4b16-411e-97e5-a3f8221b3ab4" providerId="ADAL" clId="{4047D61E-8E45-46D1-B377-D231C8F1A299}" dt="2026-06-21T22:17:37.380" v="1070" actId="113"/>
        <pc:sldMkLst>
          <pc:docMk/>
          <pc:sldMk cId="0" sldId="262"/>
        </pc:sldMkLst>
        <pc:spChg chg="mod">
          <ac:chgData name="McManus, Caleb" userId="b64002d7-4b16-411e-97e5-a3f8221b3ab4" providerId="ADAL" clId="{4047D61E-8E45-46D1-B377-D231C8F1A299}" dt="2026-06-21T22:17:37.380" v="1070" actId="113"/>
          <ac:spMkLst>
            <pc:docMk/>
            <pc:sldMk cId="0" sldId="262"/>
            <ac:spMk id="189" creationId="{00000000-0000-0000-0000-000000000000}"/>
          </ac:spMkLst>
        </pc:spChg>
      </pc:sldChg>
      <pc:sldChg chg="modSp mod">
        <pc:chgData name="McManus, Caleb" userId="b64002d7-4b16-411e-97e5-a3f8221b3ab4" providerId="ADAL" clId="{4047D61E-8E45-46D1-B377-D231C8F1A299}" dt="2026-06-21T22:24:44.325" v="1110" actId="113"/>
        <pc:sldMkLst>
          <pc:docMk/>
          <pc:sldMk cId="0" sldId="263"/>
        </pc:sldMkLst>
        <pc:spChg chg="mod">
          <ac:chgData name="McManus, Caleb" userId="b64002d7-4b16-411e-97e5-a3f8221b3ab4" providerId="ADAL" clId="{4047D61E-8E45-46D1-B377-D231C8F1A299}" dt="2026-06-21T22:24:44.325" v="1110" actId="113"/>
          <ac:spMkLst>
            <pc:docMk/>
            <pc:sldMk cId="0" sldId="263"/>
            <ac:spMk id="196" creationId="{00000000-0000-0000-0000-000000000000}"/>
          </ac:spMkLst>
        </pc:spChg>
      </pc:sldChg>
      <pc:sldChg chg="addSp modSp mod">
        <pc:chgData name="McManus, Caleb" userId="b64002d7-4b16-411e-97e5-a3f8221b3ab4" providerId="ADAL" clId="{4047D61E-8E45-46D1-B377-D231C8F1A299}" dt="2026-06-21T22:30:16.296" v="1187" actId="20577"/>
        <pc:sldMkLst>
          <pc:docMk/>
          <pc:sldMk cId="0" sldId="264"/>
        </pc:sldMkLst>
        <pc:spChg chg="add mod">
          <ac:chgData name="McManus, Caleb" userId="b64002d7-4b16-411e-97e5-a3f8221b3ab4" providerId="ADAL" clId="{4047D61E-8E45-46D1-B377-D231C8F1A299}" dt="2026-06-21T22:30:16.296" v="1187" actId="20577"/>
          <ac:spMkLst>
            <pc:docMk/>
            <pc:sldMk cId="0" sldId="264"/>
            <ac:spMk id="2" creationId="{ADEC6FE2-04C8-CB21-A727-AEFFAEF3AD88}"/>
          </ac:spMkLst>
        </pc:spChg>
        <pc:picChg chg="mod">
          <ac:chgData name="McManus, Caleb" userId="b64002d7-4b16-411e-97e5-a3f8221b3ab4" providerId="ADAL" clId="{4047D61E-8E45-46D1-B377-D231C8F1A299}" dt="2026-06-21T22:28:28.211" v="1146" actId="1076"/>
          <ac:picMkLst>
            <pc:docMk/>
            <pc:sldMk cId="0" sldId="264"/>
            <ac:picMk id="203" creationId="{00000000-0000-0000-0000-000000000000}"/>
          </ac:picMkLst>
        </pc:picChg>
      </pc:sldChg>
      <pc:sldChg chg="modSp mod">
        <pc:chgData name="McManus, Caleb" userId="b64002d7-4b16-411e-97e5-a3f8221b3ab4" providerId="ADAL" clId="{4047D61E-8E45-46D1-B377-D231C8F1A299}" dt="2026-06-21T22:32:06.080" v="1201" actId="255"/>
        <pc:sldMkLst>
          <pc:docMk/>
          <pc:sldMk cId="0" sldId="265"/>
        </pc:sldMkLst>
        <pc:spChg chg="mod">
          <ac:chgData name="McManus, Caleb" userId="b64002d7-4b16-411e-97e5-a3f8221b3ab4" providerId="ADAL" clId="{4047D61E-8E45-46D1-B377-D231C8F1A299}" dt="2026-06-21T22:32:06.080" v="1201" actId="255"/>
          <ac:spMkLst>
            <pc:docMk/>
            <pc:sldMk cId="0" sldId="265"/>
            <ac:spMk id="210" creationId="{00000000-0000-0000-0000-000000000000}"/>
          </ac:spMkLst>
        </pc:spChg>
      </pc:sldChg>
      <pc:sldChg chg="modSp mod">
        <pc:chgData name="McManus, Caleb" userId="b64002d7-4b16-411e-97e5-a3f8221b3ab4" providerId="ADAL" clId="{4047D61E-8E45-46D1-B377-D231C8F1A299}" dt="2026-06-21T22:39:53.245" v="1203" actId="113"/>
        <pc:sldMkLst>
          <pc:docMk/>
          <pc:sldMk cId="0" sldId="266"/>
        </pc:sldMkLst>
        <pc:spChg chg="mod">
          <ac:chgData name="McManus, Caleb" userId="b64002d7-4b16-411e-97e5-a3f8221b3ab4" providerId="ADAL" clId="{4047D61E-8E45-46D1-B377-D231C8F1A299}" dt="2026-06-21T22:39:53.245" v="1203" actId="113"/>
          <ac:spMkLst>
            <pc:docMk/>
            <pc:sldMk cId="0" sldId="266"/>
            <ac:spMk id="217" creationId="{00000000-0000-0000-0000-000000000000}"/>
          </ac:spMkLst>
        </pc:spChg>
      </pc:sldChg>
      <pc:sldChg chg="modSp mod">
        <pc:chgData name="McManus, Caleb" userId="b64002d7-4b16-411e-97e5-a3f8221b3ab4" providerId="ADAL" clId="{4047D61E-8E45-46D1-B377-D231C8F1A299}" dt="2026-06-21T22:46:30.351" v="1205" actId="255"/>
        <pc:sldMkLst>
          <pc:docMk/>
          <pc:sldMk cId="0" sldId="267"/>
        </pc:sldMkLst>
        <pc:spChg chg="mod">
          <ac:chgData name="McManus, Caleb" userId="b64002d7-4b16-411e-97e5-a3f8221b3ab4" providerId="ADAL" clId="{4047D61E-8E45-46D1-B377-D231C8F1A299}" dt="2026-06-21T22:46:30.351" v="1205" actId="255"/>
          <ac:spMkLst>
            <pc:docMk/>
            <pc:sldMk cId="0" sldId="267"/>
            <ac:spMk id="224" creationId="{00000000-0000-0000-0000-000000000000}"/>
          </ac:spMkLst>
        </pc:spChg>
      </pc:sldChg>
      <pc:sldChg chg="modSp mod">
        <pc:chgData name="McManus, Caleb" userId="b64002d7-4b16-411e-97e5-a3f8221b3ab4" providerId="ADAL" clId="{4047D61E-8E45-46D1-B377-D231C8F1A299}" dt="2026-06-21T22:47:19.145" v="1207" actId="255"/>
        <pc:sldMkLst>
          <pc:docMk/>
          <pc:sldMk cId="0" sldId="268"/>
        </pc:sldMkLst>
        <pc:spChg chg="mod">
          <ac:chgData name="McManus, Caleb" userId="b64002d7-4b16-411e-97e5-a3f8221b3ab4" providerId="ADAL" clId="{4047D61E-8E45-46D1-B377-D231C8F1A299}" dt="2026-06-21T22:47:19.145" v="1207" actId="255"/>
          <ac:spMkLst>
            <pc:docMk/>
            <pc:sldMk cId="0" sldId="268"/>
            <ac:spMk id="231" creationId="{00000000-0000-0000-0000-000000000000}"/>
          </ac:spMkLst>
        </pc:spChg>
      </pc:sldChg>
      <pc:sldChg chg="modSp">
        <pc:chgData name="McManus, Caleb" userId="b64002d7-4b16-411e-97e5-a3f8221b3ab4" providerId="ADAL" clId="{4047D61E-8E45-46D1-B377-D231C8F1A299}" dt="2026-06-21T22:48:19.179" v="1208"/>
        <pc:sldMkLst>
          <pc:docMk/>
          <pc:sldMk cId="0" sldId="269"/>
        </pc:sldMkLst>
        <pc:spChg chg="mod">
          <ac:chgData name="McManus, Caleb" userId="b64002d7-4b16-411e-97e5-a3f8221b3ab4" providerId="ADAL" clId="{4047D61E-8E45-46D1-B377-D231C8F1A299}" dt="2026-06-21T22:48:19.179" v="1208"/>
          <ac:spMkLst>
            <pc:docMk/>
            <pc:sldMk cId="0" sldId="269"/>
            <ac:spMk id="238" creationId="{00000000-0000-0000-0000-000000000000}"/>
          </ac:spMkLst>
        </pc:spChg>
      </pc:sldChg>
      <pc:sldChg chg="modSp new mod">
        <pc:chgData name="McManus, Caleb" userId="b64002d7-4b16-411e-97e5-a3f8221b3ab4" providerId="ADAL" clId="{4047D61E-8E45-46D1-B377-D231C8F1A299}" dt="2026-06-21T22:25:15.798" v="1117" actId="113"/>
        <pc:sldMkLst>
          <pc:docMk/>
          <pc:sldMk cId="712589283" sldId="270"/>
        </pc:sldMkLst>
        <pc:spChg chg="mod">
          <ac:chgData name="McManus, Caleb" userId="b64002d7-4b16-411e-97e5-a3f8221b3ab4" providerId="ADAL" clId="{4047D61E-8E45-46D1-B377-D231C8F1A299}" dt="2026-06-21T22:24:54.589" v="1111"/>
          <ac:spMkLst>
            <pc:docMk/>
            <pc:sldMk cId="712589283" sldId="270"/>
            <ac:spMk id="2" creationId="{F51BD1B1-52C7-4993-84E1-258A83BB63E4}"/>
          </ac:spMkLst>
        </pc:spChg>
        <pc:spChg chg="mod">
          <ac:chgData name="McManus, Caleb" userId="b64002d7-4b16-411e-97e5-a3f8221b3ab4" providerId="ADAL" clId="{4047D61E-8E45-46D1-B377-D231C8F1A299}" dt="2026-06-21T22:25:15.798" v="1117" actId="113"/>
          <ac:spMkLst>
            <pc:docMk/>
            <pc:sldMk cId="712589283" sldId="270"/>
            <ac:spMk id="3" creationId="{07224708-3699-E256-6308-0F6E4C7A8470}"/>
          </ac:spMkLst>
        </pc:spChg>
      </pc:sldChg>
      <pc:sldChg chg="modSp new mod">
        <pc:chgData name="McManus, Caleb" userId="b64002d7-4b16-411e-97e5-a3f8221b3ab4" providerId="ADAL" clId="{4047D61E-8E45-46D1-B377-D231C8F1A299}" dt="2026-06-21T22:25:44.348" v="1125" actId="113"/>
        <pc:sldMkLst>
          <pc:docMk/>
          <pc:sldMk cId="642235796" sldId="271"/>
        </pc:sldMkLst>
        <pc:spChg chg="mod">
          <ac:chgData name="McManus, Caleb" userId="b64002d7-4b16-411e-97e5-a3f8221b3ab4" providerId="ADAL" clId="{4047D61E-8E45-46D1-B377-D231C8F1A299}" dt="2026-06-21T22:25:25.712" v="1119"/>
          <ac:spMkLst>
            <pc:docMk/>
            <pc:sldMk cId="642235796" sldId="271"/>
            <ac:spMk id="2" creationId="{584E1547-998C-ECD4-BDC9-72675B1B07AE}"/>
          </ac:spMkLst>
        </pc:spChg>
        <pc:spChg chg="mod">
          <ac:chgData name="McManus, Caleb" userId="b64002d7-4b16-411e-97e5-a3f8221b3ab4" providerId="ADAL" clId="{4047D61E-8E45-46D1-B377-D231C8F1A299}" dt="2026-06-21T22:25:44.348" v="1125" actId="113"/>
          <ac:spMkLst>
            <pc:docMk/>
            <pc:sldMk cId="642235796" sldId="271"/>
            <ac:spMk id="3" creationId="{59F5AC35-EB8C-BAC3-BE12-9FF584C09B52}"/>
          </ac:spMkLst>
        </pc:spChg>
      </pc:sldChg>
      <pc:sldChg chg="modSp new mod">
        <pc:chgData name="McManus, Caleb" userId="b64002d7-4b16-411e-97e5-a3f8221b3ab4" providerId="ADAL" clId="{4047D61E-8E45-46D1-B377-D231C8F1A299}" dt="2026-06-21T22:27:06.792" v="1133" actId="113"/>
        <pc:sldMkLst>
          <pc:docMk/>
          <pc:sldMk cId="1041833428" sldId="272"/>
        </pc:sldMkLst>
        <pc:spChg chg="mod">
          <ac:chgData name="McManus, Caleb" userId="b64002d7-4b16-411e-97e5-a3f8221b3ab4" providerId="ADAL" clId="{4047D61E-8E45-46D1-B377-D231C8F1A299}" dt="2026-06-21T22:26:41.563" v="1127" actId="27636"/>
          <ac:spMkLst>
            <pc:docMk/>
            <pc:sldMk cId="1041833428" sldId="272"/>
            <ac:spMk id="2" creationId="{ED357D5F-46C2-8F0E-E940-4C498C09BABE}"/>
          </ac:spMkLst>
        </pc:spChg>
        <pc:spChg chg="mod">
          <ac:chgData name="McManus, Caleb" userId="b64002d7-4b16-411e-97e5-a3f8221b3ab4" providerId="ADAL" clId="{4047D61E-8E45-46D1-B377-D231C8F1A299}" dt="2026-06-21T22:27:06.792" v="1133" actId="113"/>
          <ac:spMkLst>
            <pc:docMk/>
            <pc:sldMk cId="1041833428" sldId="272"/>
            <ac:spMk id="3" creationId="{A298BFEF-75FC-1245-8E2E-D968AB86E7D3}"/>
          </ac:spMkLst>
        </pc:spChg>
      </pc:sldChg>
      <pc:sldChg chg="modSp new mod">
        <pc:chgData name="McManus, Caleb" userId="b64002d7-4b16-411e-97e5-a3f8221b3ab4" providerId="ADAL" clId="{4047D61E-8E45-46D1-B377-D231C8F1A299}" dt="2026-06-21T22:27:38.700" v="1141" actId="113"/>
        <pc:sldMkLst>
          <pc:docMk/>
          <pc:sldMk cId="367927834" sldId="273"/>
        </pc:sldMkLst>
        <pc:spChg chg="mod">
          <ac:chgData name="McManus, Caleb" userId="b64002d7-4b16-411e-97e5-a3f8221b3ab4" providerId="ADAL" clId="{4047D61E-8E45-46D1-B377-D231C8F1A299}" dt="2026-06-21T22:27:19.759" v="1135"/>
          <ac:spMkLst>
            <pc:docMk/>
            <pc:sldMk cId="367927834" sldId="273"/>
            <ac:spMk id="2" creationId="{838A602C-8DF1-553B-C0EE-3D86539AFD15}"/>
          </ac:spMkLst>
        </pc:spChg>
        <pc:spChg chg="mod">
          <ac:chgData name="McManus, Caleb" userId="b64002d7-4b16-411e-97e5-a3f8221b3ab4" providerId="ADAL" clId="{4047D61E-8E45-46D1-B377-D231C8F1A299}" dt="2026-06-21T22:27:38.700" v="1141" actId="113"/>
          <ac:spMkLst>
            <pc:docMk/>
            <pc:sldMk cId="367927834" sldId="273"/>
            <ac:spMk id="3" creationId="{7C008B50-BFFA-2C08-3B5F-30294A38C4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Caleb McManus</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7852144" cy="4024125"/>
          </a:xfrm>
          <a:prstGeom prst="rect">
            <a:avLst/>
          </a:prstGeom>
          <a:noFill/>
          <a:ln>
            <a:noFill/>
          </a:ln>
        </p:spPr>
        <p:txBody>
          <a:bodyPr spcFirstLastPara="1" wrap="square" lIns="91425" tIns="45700" rIns="91425" bIns="45700" anchor="t" anchorCtr="0">
            <a:normAutofit/>
          </a:bodyPr>
          <a:lstStyle/>
          <a:p>
            <a:pPr marL="971550" indent="-285750">
              <a:spcBef>
                <a:spcPts val="0"/>
              </a:spcBef>
            </a:pPr>
            <a:r>
              <a:rPr lang="en-US" sz="2400" dirty="0"/>
              <a:t>Green Pace needs to have a repeatable security policy for safe development of code.</a:t>
            </a:r>
          </a:p>
          <a:p>
            <a:pPr marL="971550" indent="-285750">
              <a:spcBef>
                <a:spcPts val="0"/>
              </a:spcBef>
            </a:pPr>
            <a:r>
              <a:rPr lang="en-US" sz="2400" dirty="0"/>
              <a:t>This is done by using defense in depth, which is a combination of secure coding, testing, encryption, automation, and certain access control.</a:t>
            </a:r>
          </a:p>
          <a:p>
            <a:pPr marL="971550" indent="-285750">
              <a:spcBef>
                <a:spcPts val="0"/>
              </a:spcBef>
            </a:pPr>
            <a:r>
              <a:rPr lang="en-US" sz="2400" dirty="0"/>
              <a:t>The policy should be used through out the cycle, before public release, not after to ensure quality.</a:t>
            </a:r>
            <a:endParaRPr sz="2400"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7644809" y="4146698"/>
            <a:ext cx="4547191" cy="2628132"/>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fontScale="70000" lnSpcReduction="20000"/>
          </a:bodyPr>
          <a:lstStyle/>
          <a:p>
            <a:pPr>
              <a:lnSpc>
                <a:spcPct val="105000"/>
              </a:lnSpc>
              <a:spcAft>
                <a:spcPts val="600"/>
              </a:spcAft>
              <a:defRPr sz="1200" b="0">
                <a:solidFill>
                  <a:srgbClr val="2D372D"/>
                </a:solidFill>
                <a:latin typeface="Arial"/>
              </a:defRPr>
            </a:pPr>
            <a:r>
              <a:rPr lang="en-US" sz="2000" dirty="0">
                <a:solidFill>
                  <a:schemeClr val="bg1"/>
                </a:solidFill>
              </a:rPr>
              <a:t>Priority 5: SQL injection and manual memory management.</a:t>
            </a:r>
          </a:p>
          <a:p>
            <a:pPr>
              <a:lnSpc>
                <a:spcPct val="105000"/>
              </a:lnSpc>
              <a:defRPr sz="1200" b="0">
                <a:solidFill>
                  <a:srgbClr val="2D372D"/>
                </a:solidFill>
              </a:defRPr>
            </a:pPr>
            <a:r>
              <a:rPr lang="en-US" sz="2000" dirty="0">
                <a:solidFill>
                  <a:schemeClr val="bg1"/>
                </a:solidFill>
              </a:rPr>
              <a:t>Priority 4: data values, strings, integer overflow, and resource management.</a:t>
            </a:r>
          </a:p>
          <a:p>
            <a:pPr>
              <a:lnSpc>
                <a:spcPct val="105000"/>
              </a:lnSpc>
              <a:defRPr sz="1200" b="0">
                <a:solidFill>
                  <a:srgbClr val="2D372D"/>
                </a:solidFill>
              </a:defRPr>
            </a:pPr>
            <a:r>
              <a:rPr lang="en-US" sz="2000" dirty="0">
                <a:solidFill>
                  <a:schemeClr val="bg1"/>
                </a:solidFill>
              </a:rPr>
              <a:t>Priority 3: assertions, exceptions, and file I/O.</a:t>
            </a:r>
          </a:p>
          <a:p>
            <a:pPr>
              <a:lnSpc>
                <a:spcPct val="105000"/>
              </a:lnSpc>
              <a:defRPr sz="1200" b="0">
                <a:solidFill>
                  <a:srgbClr val="2D372D"/>
                </a:solidFill>
              </a:defRPr>
            </a:pPr>
            <a:r>
              <a:rPr lang="en-US" sz="2000" dirty="0">
                <a:solidFill>
                  <a:schemeClr val="bg1"/>
                </a:solidFill>
              </a:rPr>
              <a:t>Priority 2: data types, because the impact is high but less likely in this policy.</a:t>
            </a:r>
          </a:p>
          <a:p>
            <a:pPr marL="228600" lvl="0" indent="-88900" algn="l" rtl="0">
              <a:lnSpc>
                <a:spcPct val="90000"/>
              </a:lnSpc>
              <a:spcBef>
                <a:spcPts val="1000"/>
              </a:spcBef>
              <a:spcAft>
                <a:spcPts val="0"/>
              </a:spcAft>
              <a:buClr>
                <a:schemeClr val="lt1"/>
              </a:buClr>
              <a:buSzPts val="2200"/>
              <a:buNone/>
            </a:pPr>
            <a:endParaRPr sz="2300" dirty="0">
              <a:solidFill>
                <a:schemeClr val="bg1"/>
              </a:solidFill>
            </a:endParaRPr>
          </a:p>
        </p:txBody>
      </p:sp>
      <p:graphicFrame>
        <p:nvGraphicFramePr>
          <p:cNvPr id="161" name="Google Shape;161;p4" descr="Alt text required"/>
          <p:cNvGraphicFramePr/>
          <p:nvPr>
            <p:extLst>
              <p:ext uri="{D42A27DB-BD31-4B8C-83A1-F6EECF244321}">
                <p14:modId xmlns:p14="http://schemas.microsoft.com/office/powerpoint/2010/main" val="2658591222"/>
              </p:ext>
            </p:extLst>
          </p:nvPr>
        </p:nvGraphicFramePr>
        <p:xfrm>
          <a:off x="3171900" y="2561050"/>
          <a:ext cx="7835225" cy="372001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Std-002 Data Values</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Std-003 Strings</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Std-008 Integer Overflow</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Std-010 Resource Management</a:t>
                      </a:r>
                      <a:endParaRPr sz="2000" u="none" strike="noStrike" cap="none" dirty="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Std-010 SQL Injection</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Std-005 Memory Management</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No low-priority risk identified</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tx1"/>
                          </a:solidFill>
                        </a:rPr>
                        <a:t>Std-001 Data types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744279" y="2194560"/>
            <a:ext cx="10175357" cy="4395191"/>
          </a:xfrm>
          <a:prstGeom prst="rect">
            <a:avLst/>
          </a:prstGeom>
          <a:noFill/>
          <a:ln>
            <a:noFill/>
          </a:ln>
        </p:spPr>
        <p:txBody>
          <a:bodyPr spcFirstLastPara="1" wrap="square" lIns="91425" tIns="45700" rIns="91425" bIns="45700" anchor="t" anchorCtr="0">
            <a:normAutofit lnSpcReduction="10000"/>
          </a:bodyPr>
          <a:lstStyle/>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Validate Input Data</a:t>
            </a:r>
          </a:p>
          <a:p>
            <a:pPr marL="800100" lvl="1">
              <a:spcBef>
                <a:spcPts val="0"/>
              </a:spcBef>
              <a:buSzPts val="2200"/>
              <a:buFont typeface="+mj-lt"/>
              <a:buAutoNum type="arabicPeriod"/>
            </a:pPr>
            <a:r>
              <a:rPr lang="en-US" sz="1600" dirty="0"/>
              <a:t>STD-002, STD-003, STD-004, STD-008, STD-009</a:t>
            </a:r>
            <a:endParaRPr lang="en-US" sz="1600" dirty="0">
              <a:solidFill>
                <a:schemeClr val="bg1"/>
              </a:solidFill>
            </a:endParaRP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Heed Compiler Warnings</a:t>
            </a:r>
          </a:p>
          <a:p>
            <a:pPr marL="800100" lvl="1">
              <a:spcBef>
                <a:spcPts val="0"/>
              </a:spcBef>
              <a:buSzPts val="2200"/>
              <a:buFont typeface="+mj-lt"/>
              <a:buAutoNum type="arabicPeriod"/>
            </a:pPr>
            <a:r>
              <a:rPr lang="en-US" sz="1600" dirty="0">
                <a:solidFill>
                  <a:schemeClr val="bg1"/>
                </a:solidFill>
              </a:rPr>
              <a:t>STD-001, STD-006, STD-008</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Design for Security Policies</a:t>
            </a:r>
          </a:p>
          <a:p>
            <a:pPr marL="800100" lvl="1">
              <a:spcBef>
                <a:spcPts val="0"/>
              </a:spcBef>
              <a:buSzPts val="2200"/>
              <a:buFont typeface="+mj-lt"/>
              <a:buAutoNum type="arabicPeriod"/>
            </a:pPr>
            <a:r>
              <a:rPr lang="en-US" sz="1600" dirty="0">
                <a:solidFill>
                  <a:schemeClr val="bg1"/>
                </a:solidFill>
              </a:rPr>
              <a:t>STD-005, STD-007, STD-009, STD-010</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Keep it Simple</a:t>
            </a:r>
          </a:p>
          <a:p>
            <a:pPr marL="800100" lvl="1">
              <a:spcBef>
                <a:spcPts val="0"/>
              </a:spcBef>
              <a:buSzPts val="2200"/>
              <a:buFont typeface="+mj-lt"/>
              <a:buAutoNum type="arabicPeriod"/>
            </a:pPr>
            <a:r>
              <a:rPr lang="en-US" sz="1600" dirty="0"/>
              <a:t>STD-003, STD-005, STD-007, STD-010</a:t>
            </a:r>
            <a:endParaRPr lang="en-US" sz="1600" dirty="0">
              <a:solidFill>
                <a:schemeClr val="bg1"/>
              </a:solidFill>
            </a:endParaRP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Default Deny</a:t>
            </a:r>
          </a:p>
          <a:p>
            <a:pPr marL="800100" lvl="1">
              <a:spcBef>
                <a:spcPts val="0"/>
              </a:spcBef>
              <a:buSzPts val="2200"/>
              <a:buFont typeface="+mj-lt"/>
              <a:buAutoNum type="arabicPeriod"/>
            </a:pPr>
            <a:r>
              <a:rPr lang="en-US" sz="1600" dirty="0"/>
              <a:t>STD-002, STD-004, STD-006, STD-009</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Least Privilege</a:t>
            </a:r>
          </a:p>
          <a:p>
            <a:pPr marL="800100" lvl="1">
              <a:spcBef>
                <a:spcPts val="0"/>
              </a:spcBef>
              <a:buSzPts val="2200"/>
              <a:buFont typeface="+mj-lt"/>
              <a:buAutoNum type="arabicPeriod"/>
            </a:pPr>
            <a:r>
              <a:rPr lang="en-US" sz="1600" dirty="0">
                <a:solidFill>
                  <a:schemeClr val="bg1"/>
                </a:solidFill>
              </a:rPr>
              <a:t>STD-004,STD-007</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Sanitize Data Sent by System</a:t>
            </a:r>
          </a:p>
          <a:p>
            <a:pPr marL="800100" lvl="1">
              <a:spcBef>
                <a:spcPts val="0"/>
              </a:spcBef>
              <a:buSzPts val="2200"/>
              <a:buFont typeface="+mj-lt"/>
              <a:buAutoNum type="arabicPeriod"/>
            </a:pPr>
            <a:r>
              <a:rPr lang="en-US" sz="1600" dirty="0">
                <a:solidFill>
                  <a:schemeClr val="bg1"/>
                </a:solidFill>
              </a:rPr>
              <a:t>STD-004</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Defense in Depth</a:t>
            </a:r>
          </a:p>
          <a:p>
            <a:pPr marL="800100" lvl="1">
              <a:spcBef>
                <a:spcPts val="0"/>
              </a:spcBef>
              <a:buSzPts val="2200"/>
              <a:buFont typeface="+mj-lt"/>
              <a:buAutoNum type="arabicPeriod"/>
            </a:pPr>
            <a:r>
              <a:rPr lang="en-US" sz="1600" dirty="0">
                <a:solidFill>
                  <a:schemeClr val="bg1"/>
                </a:solidFill>
              </a:rPr>
              <a:t>All standards</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Quality Assurance</a:t>
            </a:r>
          </a:p>
          <a:p>
            <a:pPr marL="800100" lvl="1">
              <a:spcBef>
                <a:spcPts val="0"/>
              </a:spcBef>
              <a:buSzPts val="2200"/>
              <a:buFont typeface="+mj-lt"/>
              <a:buAutoNum type="arabicPeriod"/>
            </a:pPr>
            <a:r>
              <a:rPr lang="en-US" sz="1400" dirty="0">
                <a:solidFill>
                  <a:schemeClr val="bg1"/>
                </a:solidFill>
              </a:rPr>
              <a:t>All Standards</a:t>
            </a:r>
          </a:p>
          <a:p>
            <a:pPr marL="342900" lvl="0" rtl="0">
              <a:lnSpc>
                <a:spcPct val="90000"/>
              </a:lnSpc>
              <a:spcBef>
                <a:spcPts val="0"/>
              </a:spcBef>
              <a:spcAft>
                <a:spcPts val="0"/>
              </a:spcAft>
              <a:buClr>
                <a:schemeClr val="lt1"/>
              </a:buClr>
              <a:buSzPts val="2200"/>
              <a:buFont typeface="+mj-lt"/>
              <a:buAutoNum type="arabicPeriod"/>
            </a:pPr>
            <a:r>
              <a:rPr lang="en-US" sz="1800" dirty="0">
                <a:solidFill>
                  <a:schemeClr val="bg1"/>
                </a:solidFill>
              </a:rPr>
              <a:t>Secure Coding Standard</a:t>
            </a:r>
          </a:p>
          <a:p>
            <a:pPr marL="800100" lvl="1">
              <a:spcBef>
                <a:spcPts val="0"/>
              </a:spcBef>
              <a:buSzPts val="2200"/>
              <a:buFont typeface="+mj-lt"/>
              <a:buAutoNum type="arabicPeriod"/>
            </a:pPr>
            <a:r>
              <a:rPr lang="en-US" sz="1600" dirty="0">
                <a:solidFill>
                  <a:schemeClr val="bg1"/>
                </a:solidFill>
              </a:rPr>
              <a:t>All standards</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000"/>
              <a:buNone/>
            </a:pPr>
            <a:r>
              <a:rPr lang="en-US" sz="2000" dirty="0"/>
              <a:t>Simple Ranking system, 5 is fix first, 4 is a high priority, 3 is medium, 2 is lower but still needs to be enforced.</a:t>
            </a:r>
          </a:p>
          <a:p>
            <a:pPr marL="342900">
              <a:spcBef>
                <a:spcPts val="0"/>
              </a:spcBef>
              <a:buSzPts val="2000"/>
            </a:pPr>
            <a:r>
              <a:rPr lang="en-US" sz="2000" dirty="0"/>
              <a:t>5: STD-004: SQL Injection</a:t>
            </a:r>
          </a:p>
          <a:p>
            <a:pPr marL="342900">
              <a:spcBef>
                <a:spcPts val="0"/>
              </a:spcBef>
              <a:buSzPts val="2000"/>
            </a:pPr>
            <a:r>
              <a:rPr lang="en-US" sz="2000" dirty="0"/>
              <a:t>5: STD-005: Memory protection</a:t>
            </a:r>
          </a:p>
          <a:p>
            <a:pPr marL="342900">
              <a:spcBef>
                <a:spcPts val="0"/>
              </a:spcBef>
              <a:buSzPts val="2000"/>
            </a:pPr>
            <a:r>
              <a:rPr lang="en-US" sz="2000" dirty="0"/>
              <a:t>4: STD-002: Validate data values</a:t>
            </a:r>
          </a:p>
          <a:p>
            <a:pPr marL="342900">
              <a:spcBef>
                <a:spcPts val="0"/>
              </a:spcBef>
              <a:buSzPts val="2000"/>
            </a:pPr>
            <a:r>
              <a:rPr lang="en-US" sz="2000" dirty="0"/>
              <a:t>4: STD-003: Safe string handling</a:t>
            </a:r>
          </a:p>
          <a:p>
            <a:pPr marL="342900">
              <a:spcBef>
                <a:spcPts val="0"/>
              </a:spcBef>
              <a:buSzPts val="2000"/>
            </a:pPr>
            <a:r>
              <a:rPr lang="en-US" sz="2000" dirty="0"/>
              <a:t>4: STD-008: Integer overflow/underflow</a:t>
            </a:r>
          </a:p>
          <a:p>
            <a:pPr marL="342900">
              <a:spcBef>
                <a:spcPts val="0"/>
              </a:spcBef>
              <a:buSzPts val="2000"/>
            </a:pPr>
            <a:r>
              <a:rPr lang="en-US" sz="2000" dirty="0"/>
              <a:t>4: STD-010: RAII/ resource cleanup</a:t>
            </a:r>
          </a:p>
          <a:p>
            <a:pPr marL="342900">
              <a:spcBef>
                <a:spcPts val="0"/>
              </a:spcBef>
              <a:buSzPts val="2000"/>
            </a:pPr>
            <a:r>
              <a:rPr lang="en-US" sz="2000" dirty="0"/>
              <a:t>3: STD-006: Assertion misuse</a:t>
            </a:r>
          </a:p>
          <a:p>
            <a:pPr marL="342900">
              <a:spcBef>
                <a:spcPts val="0"/>
              </a:spcBef>
              <a:buSzPts val="2000"/>
            </a:pPr>
            <a:r>
              <a:rPr lang="en-US" sz="2000" dirty="0"/>
              <a:t>3: STD-007: Exception handling</a:t>
            </a:r>
          </a:p>
          <a:p>
            <a:pPr marL="342900">
              <a:spcBef>
                <a:spcPts val="0"/>
              </a:spcBef>
              <a:buSzPts val="2000"/>
            </a:pPr>
            <a:r>
              <a:rPr lang="en-US" sz="2000" dirty="0"/>
              <a:t>3: STD-009: File operations</a:t>
            </a:r>
          </a:p>
          <a:p>
            <a:pPr marL="342900">
              <a:spcBef>
                <a:spcPts val="0"/>
              </a:spcBef>
              <a:buSzPts val="2000"/>
            </a:pPr>
            <a:r>
              <a:rPr lang="en-US" sz="2000" dirty="0"/>
              <a:t>2: STD-001: Safe data types</a:t>
            </a:r>
            <a:endParaRPr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rPr lang="en-US" sz="2000" dirty="0"/>
              <a:t>Encryption at rest: Sensitive data stored on devices, servers, databases, backups, and cloud systems must be encrypted using approved methods such as AES-256.</a:t>
            </a:r>
            <a:endParaRPr lang="en-US" sz="1600" dirty="0"/>
          </a:p>
          <a:p>
            <a:pPr marL="228600" lvl="0" indent="-228600" algn="l" rtl="0">
              <a:lnSpc>
                <a:spcPct val="90000"/>
              </a:lnSpc>
              <a:spcBef>
                <a:spcPts val="0"/>
              </a:spcBef>
              <a:spcAft>
                <a:spcPts val="0"/>
              </a:spcAft>
              <a:buClr>
                <a:schemeClr val="lt1"/>
              </a:buClr>
              <a:buSzPts val="2000"/>
              <a:buChar char="•"/>
            </a:pPr>
            <a:r>
              <a:rPr lang="en-US" sz="2000" dirty="0"/>
              <a:t>Encryption in flight: Data being sent between users, applications, and systems must use secure connections such as HTTPS, TLS, SSH, or protected database connections.</a:t>
            </a:r>
          </a:p>
          <a:p>
            <a:pPr marL="228600" lvl="0" indent="-228600" algn="l" rtl="0">
              <a:lnSpc>
                <a:spcPct val="90000"/>
              </a:lnSpc>
              <a:spcBef>
                <a:spcPts val="0"/>
              </a:spcBef>
              <a:spcAft>
                <a:spcPts val="0"/>
              </a:spcAft>
              <a:buClr>
                <a:schemeClr val="lt1"/>
              </a:buClr>
              <a:buSzPts val="2000"/>
              <a:buChar char="•"/>
            </a:pPr>
            <a:r>
              <a:rPr lang="en-US" sz="2000" dirty="0"/>
              <a:t>Encryption in use: Sensitive data must be protected while it is being processed by limiting access, reducing plaintext exposure, and clearing sensitive memory when it is no longer needed.</a:t>
            </a: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dirty="0"/>
              <a:t>Authentication: Green Pace must verify each user before allowing access. Strong passwords, unique accounts, and multi-factor authentication should be used.</a:t>
            </a:r>
          </a:p>
          <a:p>
            <a:r>
              <a:rPr lang="en-US" sz="2000" dirty="0"/>
              <a:t>Authorization: Users should only have access to the files, systems, and features needed for their role.</a:t>
            </a:r>
          </a:p>
          <a:p>
            <a:r>
              <a:rPr lang="en-US" sz="2000" dirty="0"/>
              <a:t>Accounting: Green Pace must record logins, file access, database changes, permission changes, and new user activity for review and auditing.</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buNone/>
            </a:pPr>
            <a:r>
              <a:rPr lang="en-US" dirty="0"/>
              <a:t>Coding standard tested: STD-002-CPP</a:t>
            </a:r>
          </a:p>
          <a:p>
            <a:pPr marL="0" lvl="0" indent="0">
              <a:buNone/>
            </a:pPr>
            <a:r>
              <a:rPr lang="en-US" dirty="0"/>
              <a:t>Vulnerability: Improper data-value and range validation</a:t>
            </a:r>
          </a:p>
          <a:p>
            <a:pPr marL="0" lvl="0" indent="0">
              <a:buNone/>
            </a:pPr>
            <a:r>
              <a:rPr lang="en-US" dirty="0"/>
              <a:t>Testing framework: GoogleTest</a:t>
            </a:r>
          </a:p>
          <a:p>
            <a:pPr marL="0" lvl="0" indent="0">
              <a:buNone/>
            </a:pPr>
            <a:r>
              <a:rPr lang="en-US" dirty="0"/>
              <a:t>The tests check valid and invalid array indexes</a:t>
            </a:r>
          </a:p>
          <a:p>
            <a:pPr marL="0" lvl="0" indent="0">
              <a:buNone/>
            </a:pPr>
            <a:r>
              <a:rPr lang="en-US" dirty="0"/>
              <a:t>Positive tests confirm valid values work</a:t>
            </a:r>
          </a:p>
          <a:p>
            <a:pPr marL="0" lvl="0" indent="0">
              <a:buNone/>
            </a:pPr>
            <a:r>
              <a:rPr lang="en-US" dirty="0"/>
              <a:t>Negative tests confirm unsafe values are rejected</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BD1B1-52C7-4993-84E1-258A83BB63E4}"/>
              </a:ext>
            </a:extLst>
          </p:cNvPr>
          <p:cNvSpPr>
            <a:spLocks noGrp="1"/>
          </p:cNvSpPr>
          <p:nvPr>
            <p:ph type="title"/>
          </p:nvPr>
        </p:nvSpPr>
        <p:spPr/>
        <p:txBody>
          <a:bodyPr/>
          <a:lstStyle/>
          <a:p>
            <a:r>
              <a:rPr lang="en-US" dirty="0"/>
              <a:t>Does the Minimum Valid Index Work?</a:t>
            </a:r>
          </a:p>
        </p:txBody>
      </p:sp>
      <p:sp>
        <p:nvSpPr>
          <p:cNvPr id="3" name="Text Placeholder 2">
            <a:extLst>
              <a:ext uri="{FF2B5EF4-FFF2-40B4-BE49-F238E27FC236}">
                <a16:creationId xmlns:a16="http://schemas.microsoft.com/office/drawing/2014/main" id="{07224708-3699-E256-6308-0F6E4C7A8470}"/>
              </a:ext>
            </a:extLst>
          </p:cNvPr>
          <p:cNvSpPr>
            <a:spLocks noGrp="1"/>
          </p:cNvSpPr>
          <p:nvPr>
            <p:ph type="body" idx="1"/>
          </p:nvPr>
        </p:nvSpPr>
        <p:spPr/>
        <p:txBody>
          <a:bodyPr/>
          <a:lstStyle/>
          <a:p>
            <a:r>
              <a:rPr lang="en-US" dirty="0"/>
              <a:t>Test type: Positive</a:t>
            </a:r>
          </a:p>
          <a:p>
            <a:r>
              <a:rPr lang="en-US" dirty="0"/>
              <a:t>Tests index 0</a:t>
            </a:r>
          </a:p>
          <a:p>
            <a:r>
              <a:rPr lang="en-US" dirty="0"/>
              <a:t>Confirms the first valid array position can be accessed</a:t>
            </a:r>
          </a:p>
          <a:p>
            <a:r>
              <a:rPr lang="en-US" dirty="0"/>
              <a:t>Expected result: The correct value is returned</a:t>
            </a:r>
          </a:p>
          <a:p>
            <a:r>
              <a:rPr lang="en-US" dirty="0"/>
              <a:t>Result: Passed</a:t>
            </a:r>
          </a:p>
        </p:txBody>
      </p:sp>
    </p:spTree>
    <p:extLst>
      <p:ext uri="{BB962C8B-B14F-4D97-AF65-F5344CB8AC3E}">
        <p14:creationId xmlns:p14="http://schemas.microsoft.com/office/powerpoint/2010/main" val="712589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1547-998C-ECD4-BDC9-72675B1B07AE}"/>
              </a:ext>
            </a:extLst>
          </p:cNvPr>
          <p:cNvSpPr>
            <a:spLocks noGrp="1"/>
          </p:cNvSpPr>
          <p:nvPr>
            <p:ph type="title"/>
          </p:nvPr>
        </p:nvSpPr>
        <p:spPr>
          <a:xfrm>
            <a:off x="2895600" y="781957"/>
            <a:ext cx="8610600" cy="1293028"/>
          </a:xfrm>
        </p:spPr>
        <p:txBody>
          <a:bodyPr/>
          <a:lstStyle/>
          <a:p>
            <a:r>
              <a:rPr lang="en-US" dirty="0"/>
              <a:t>Does the Maximum Valid Index Work?</a:t>
            </a:r>
          </a:p>
        </p:txBody>
      </p:sp>
      <p:sp>
        <p:nvSpPr>
          <p:cNvPr id="3" name="Text Placeholder 2">
            <a:extLst>
              <a:ext uri="{FF2B5EF4-FFF2-40B4-BE49-F238E27FC236}">
                <a16:creationId xmlns:a16="http://schemas.microsoft.com/office/drawing/2014/main" id="{59F5AC35-EB8C-BAC3-BE12-9FF584C09B52}"/>
              </a:ext>
            </a:extLst>
          </p:cNvPr>
          <p:cNvSpPr>
            <a:spLocks noGrp="1"/>
          </p:cNvSpPr>
          <p:nvPr>
            <p:ph type="body" idx="1"/>
          </p:nvPr>
        </p:nvSpPr>
        <p:spPr/>
        <p:txBody>
          <a:bodyPr/>
          <a:lstStyle/>
          <a:p>
            <a:r>
              <a:rPr lang="en-US" dirty="0"/>
              <a:t>Test type: Positive</a:t>
            </a:r>
          </a:p>
          <a:p>
            <a:r>
              <a:rPr lang="en-US" dirty="0"/>
              <a:t>Tests index 4 in an array with five values</a:t>
            </a:r>
          </a:p>
          <a:p>
            <a:r>
              <a:rPr lang="en-US" dirty="0"/>
              <a:t>Confirms the last valid position can be accessed</a:t>
            </a:r>
          </a:p>
          <a:p>
            <a:r>
              <a:rPr lang="en-US" dirty="0"/>
              <a:t>Expected result: The correct value is returned</a:t>
            </a:r>
          </a:p>
          <a:p>
            <a:r>
              <a:rPr lang="en-US" dirty="0"/>
              <a:t>Result: Passed</a:t>
            </a:r>
          </a:p>
        </p:txBody>
      </p:sp>
    </p:spTree>
    <p:extLst>
      <p:ext uri="{BB962C8B-B14F-4D97-AF65-F5344CB8AC3E}">
        <p14:creationId xmlns:p14="http://schemas.microsoft.com/office/powerpoint/2010/main" val="642235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57D5F-46C2-8F0E-E940-4C498C09BABE}"/>
              </a:ext>
            </a:extLst>
          </p:cNvPr>
          <p:cNvSpPr>
            <a:spLocks noGrp="1"/>
          </p:cNvSpPr>
          <p:nvPr>
            <p:ph type="title"/>
          </p:nvPr>
        </p:nvSpPr>
        <p:spPr/>
        <p:txBody>
          <a:bodyPr>
            <a:normAutofit/>
          </a:bodyPr>
          <a:lstStyle/>
          <a:p>
            <a:r>
              <a:rPr lang="en-US" dirty="0"/>
              <a:t>Is a Negative Index Rejected?</a:t>
            </a:r>
            <a:br>
              <a:rPr lang="en-US" b="1" dirty="0"/>
            </a:br>
            <a:endParaRPr lang="en-US" dirty="0"/>
          </a:p>
        </p:txBody>
      </p:sp>
      <p:sp>
        <p:nvSpPr>
          <p:cNvPr id="3" name="Text Placeholder 2">
            <a:extLst>
              <a:ext uri="{FF2B5EF4-FFF2-40B4-BE49-F238E27FC236}">
                <a16:creationId xmlns:a16="http://schemas.microsoft.com/office/drawing/2014/main" id="{A298BFEF-75FC-1245-8E2E-D968AB86E7D3}"/>
              </a:ext>
            </a:extLst>
          </p:cNvPr>
          <p:cNvSpPr>
            <a:spLocks noGrp="1"/>
          </p:cNvSpPr>
          <p:nvPr>
            <p:ph type="body" idx="1"/>
          </p:nvPr>
        </p:nvSpPr>
        <p:spPr/>
        <p:txBody>
          <a:bodyPr/>
          <a:lstStyle/>
          <a:p>
            <a:r>
              <a:rPr lang="en-US" dirty="0"/>
              <a:t>Test type: Negative</a:t>
            </a:r>
          </a:p>
          <a:p>
            <a:r>
              <a:rPr lang="en-US" dirty="0"/>
              <a:t>Tests an index below 0</a:t>
            </a:r>
          </a:p>
          <a:p>
            <a:r>
              <a:rPr lang="en-US" dirty="0"/>
              <a:t>Confirms the program rejects the value before using it</a:t>
            </a:r>
          </a:p>
          <a:p>
            <a:r>
              <a:rPr lang="en-US" dirty="0"/>
              <a:t>Expected result: The index is rejected</a:t>
            </a:r>
          </a:p>
          <a:p>
            <a:r>
              <a:rPr lang="en-US" dirty="0"/>
              <a:t>Result: Passed</a:t>
            </a:r>
          </a:p>
        </p:txBody>
      </p:sp>
    </p:spTree>
    <p:extLst>
      <p:ext uri="{BB962C8B-B14F-4D97-AF65-F5344CB8AC3E}">
        <p14:creationId xmlns:p14="http://schemas.microsoft.com/office/powerpoint/2010/main" val="1041833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A602C-8DF1-553B-C0EE-3D86539AFD15}"/>
              </a:ext>
            </a:extLst>
          </p:cNvPr>
          <p:cNvSpPr>
            <a:spLocks noGrp="1"/>
          </p:cNvSpPr>
          <p:nvPr>
            <p:ph type="title"/>
          </p:nvPr>
        </p:nvSpPr>
        <p:spPr/>
        <p:txBody>
          <a:bodyPr/>
          <a:lstStyle/>
          <a:p>
            <a:r>
              <a:rPr lang="en-US" dirty="0"/>
              <a:t>Is an Index Above the Maximum Rejected?</a:t>
            </a:r>
          </a:p>
        </p:txBody>
      </p:sp>
      <p:sp>
        <p:nvSpPr>
          <p:cNvPr id="3" name="Text Placeholder 2">
            <a:extLst>
              <a:ext uri="{FF2B5EF4-FFF2-40B4-BE49-F238E27FC236}">
                <a16:creationId xmlns:a16="http://schemas.microsoft.com/office/drawing/2014/main" id="{7C008B50-BFFA-2C08-3B5F-30294A38C4CC}"/>
              </a:ext>
            </a:extLst>
          </p:cNvPr>
          <p:cNvSpPr>
            <a:spLocks noGrp="1"/>
          </p:cNvSpPr>
          <p:nvPr>
            <p:ph type="body" idx="1"/>
          </p:nvPr>
        </p:nvSpPr>
        <p:spPr/>
        <p:txBody>
          <a:bodyPr/>
          <a:lstStyle/>
          <a:p>
            <a:r>
              <a:rPr lang="en-US" dirty="0"/>
              <a:t>Test type: Negative</a:t>
            </a:r>
          </a:p>
          <a:p>
            <a:r>
              <a:rPr lang="en-US" dirty="0"/>
              <a:t>Tests index 5 in an array with valid indexes 0 through 4</a:t>
            </a:r>
          </a:p>
          <a:p>
            <a:r>
              <a:rPr lang="en-US" dirty="0"/>
              <a:t>Confirms the program blocks out-of-range access</a:t>
            </a:r>
          </a:p>
          <a:p>
            <a:r>
              <a:rPr lang="en-US" dirty="0"/>
              <a:t>Expected result: The index is rejected</a:t>
            </a:r>
          </a:p>
          <a:p>
            <a:r>
              <a:rPr lang="en-US" dirty="0"/>
              <a:t>Result: Passed</a:t>
            </a:r>
          </a:p>
        </p:txBody>
      </p:sp>
    </p:spTree>
    <p:extLst>
      <p:ext uri="{BB962C8B-B14F-4D97-AF65-F5344CB8AC3E}">
        <p14:creationId xmlns:p14="http://schemas.microsoft.com/office/powerpoint/2010/main" val="367927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AUTOMATION SUMMARY</a:t>
            </a:r>
            <a:endParaRPr dirty="0"/>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28600" y="24464"/>
            <a:ext cx="5125915" cy="2470638"/>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ADEC6FE2-04C8-CB21-A727-AEFFAEF3AD88}"/>
              </a:ext>
            </a:extLst>
          </p:cNvPr>
          <p:cNvSpPr txBox="1"/>
          <p:nvPr/>
        </p:nvSpPr>
        <p:spPr>
          <a:xfrm>
            <a:off x="627279" y="2584937"/>
            <a:ext cx="10380689" cy="3293209"/>
          </a:xfrm>
          <a:prstGeom prst="rect">
            <a:avLst/>
          </a:prstGeom>
          <a:noFill/>
        </p:spPr>
        <p:txBody>
          <a:bodyPr wrap="square" rtlCol="0">
            <a:spAutoFit/>
          </a:bodyPr>
          <a:lstStyle/>
          <a:p>
            <a:r>
              <a:rPr lang="en-US" sz="1600" dirty="0">
                <a:solidFill>
                  <a:schemeClr val="bg1"/>
                </a:solidFill>
              </a:rPr>
              <a:t>Security automation should be used throughout the </a:t>
            </a:r>
            <a:r>
              <a:rPr lang="en-US" sz="1600" dirty="0" err="1">
                <a:solidFill>
                  <a:schemeClr val="bg1"/>
                </a:solidFill>
              </a:rPr>
              <a:t>DevSecOps</a:t>
            </a:r>
            <a:r>
              <a:rPr lang="en-US" sz="1600" dirty="0">
                <a:solidFill>
                  <a:schemeClr val="bg1"/>
                </a:solidFill>
              </a:rPr>
              <a:t> process, not only before release.</a:t>
            </a:r>
          </a:p>
          <a:p>
            <a:endParaRPr lang="en-US" sz="1600" dirty="0">
              <a:solidFill>
                <a:schemeClr val="bg1"/>
              </a:solidFill>
            </a:endParaRPr>
          </a:p>
          <a:p>
            <a:r>
              <a:rPr lang="en-US" sz="1600" dirty="0">
                <a:solidFill>
                  <a:schemeClr val="bg1"/>
                </a:solidFill>
              </a:rPr>
              <a:t>During development, Visual Studio Code Analysis, compiler warnings, and Cppcheck can detect issues early.</a:t>
            </a:r>
          </a:p>
          <a:p>
            <a:endParaRPr lang="en-US" sz="1600" dirty="0">
              <a:solidFill>
                <a:schemeClr val="bg1"/>
              </a:solidFill>
            </a:endParaRPr>
          </a:p>
          <a:p>
            <a:r>
              <a:rPr lang="en-US" sz="1600" dirty="0">
                <a:solidFill>
                  <a:schemeClr val="bg1"/>
                </a:solidFill>
              </a:rPr>
              <a:t>During verification and testing, SonarQube, GoogleTest, and </a:t>
            </a:r>
            <a:r>
              <a:rPr lang="en-US" sz="1600" dirty="0" err="1">
                <a:solidFill>
                  <a:schemeClr val="bg1"/>
                </a:solidFill>
              </a:rPr>
              <a:t>AddressSanitizer</a:t>
            </a:r>
            <a:r>
              <a:rPr lang="en-US" sz="1600" dirty="0">
                <a:solidFill>
                  <a:schemeClr val="bg1"/>
                </a:solidFill>
              </a:rPr>
              <a:t> can identify security and logic problems.</a:t>
            </a:r>
          </a:p>
          <a:p>
            <a:endParaRPr lang="en-US" sz="1600" dirty="0">
              <a:solidFill>
                <a:schemeClr val="bg1"/>
              </a:solidFill>
            </a:endParaRPr>
          </a:p>
          <a:p>
            <a:r>
              <a:rPr lang="en-US" sz="1600" dirty="0">
                <a:solidFill>
                  <a:schemeClr val="bg1"/>
                </a:solidFill>
              </a:rPr>
              <a:t>Build failures should occur when serious warnings, failed tests, or high-risk vulnerabilities are found.</a:t>
            </a:r>
          </a:p>
          <a:p>
            <a:endParaRPr lang="en-US" sz="1600" dirty="0">
              <a:solidFill>
                <a:schemeClr val="bg1"/>
              </a:solidFill>
            </a:endParaRPr>
          </a:p>
          <a:p>
            <a:r>
              <a:rPr lang="en-US" sz="1600" dirty="0">
                <a:solidFill>
                  <a:schemeClr val="bg1"/>
                </a:solidFill>
              </a:rPr>
              <a:t>Scan results, test results, and security logs should be saved for audits and future improvements.</a:t>
            </a:r>
          </a:p>
          <a:p>
            <a:endParaRPr lang="en-US" sz="1600" dirty="0">
              <a:solidFill>
                <a:schemeClr val="bg1"/>
              </a:solidFill>
            </a:endParaRPr>
          </a:p>
          <a:p>
            <a:r>
              <a:rPr lang="en-US" sz="1600" dirty="0">
                <a:solidFill>
                  <a:schemeClr val="bg1"/>
                </a:solidFill>
              </a:rPr>
              <a:t>Monitoring results should be sent back to developers so problems can be corrected in later updates.</a:t>
            </a:r>
          </a:p>
          <a:p>
            <a:endParaRPr lang="en-US" sz="1600" dirty="0">
              <a:solidFill>
                <a:schemeClr val="bg1"/>
              </a:solidFill>
              <a:latin typeface="Century Gothic" panose="020B0502020202020204" pitchFamily="34"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spcBef>
                <a:spcPts val="0"/>
              </a:spcBef>
              <a:buSzPts val="2000"/>
            </a:pPr>
            <a:r>
              <a:rPr lang="en-US" dirty="0"/>
              <a:t>Visual Studio Code Analysis: Finds unsafe conversions, invalid memory access, and ignored return values while developers write code.</a:t>
            </a:r>
          </a:p>
          <a:p>
            <a:pPr marL="685800" lvl="1" indent="-228600">
              <a:spcBef>
                <a:spcPts val="0"/>
              </a:spcBef>
              <a:buSzPts val="2000"/>
            </a:pPr>
            <a:r>
              <a:rPr lang="en-US" dirty="0"/>
              <a:t>Cppcheck: Performs static analysis to detect memory leaks, invalid indexes, unsafe strings, and other coding problems.</a:t>
            </a:r>
          </a:p>
          <a:p>
            <a:pPr marL="685800" lvl="1" indent="-228600">
              <a:spcBef>
                <a:spcPts val="0"/>
              </a:spcBef>
              <a:buSzPts val="2000"/>
            </a:pPr>
            <a:r>
              <a:rPr lang="en-US" dirty="0"/>
              <a:t>SonarQube: Scans the code during the build and verification stages for security vulnerabilities and coding-standard violations.</a:t>
            </a:r>
          </a:p>
          <a:p>
            <a:pPr marL="685800" lvl="1" indent="-228600">
              <a:spcBef>
                <a:spcPts val="0"/>
              </a:spcBef>
              <a:buSzPts val="2000"/>
            </a:pPr>
            <a:r>
              <a:rPr lang="en-US" dirty="0"/>
              <a:t>GoogleTest: Runs automated positive and negative unit tests to confirm that validation and error handling work correctly.</a:t>
            </a:r>
          </a:p>
          <a:p>
            <a:pPr marL="685800" lvl="1" indent="-228600">
              <a:spcBef>
                <a:spcPts val="0"/>
              </a:spcBef>
              <a:buSzPts val="2000"/>
            </a:pPr>
            <a:r>
              <a:rPr lang="en-US" dirty="0" err="1"/>
              <a:t>AddressSanitizer</a:t>
            </a:r>
            <a:r>
              <a:rPr lang="en-US" dirty="0"/>
              <a:t>: Detects runtime memory errors such as buffer overflows, use-after-free errors, and invalid memory access.</a:t>
            </a:r>
          </a:p>
          <a:p>
            <a:pPr marL="685800" lvl="1" indent="-228600">
              <a:spcBef>
                <a:spcPts val="0"/>
              </a:spcBef>
              <a:buSzPts val="2000"/>
            </a:pPr>
            <a:r>
              <a:rPr lang="en-US" dirty="0"/>
              <a:t>These tools support the </a:t>
            </a:r>
            <a:r>
              <a:rPr lang="en-US" dirty="0" err="1"/>
              <a:t>DevSecOps</a:t>
            </a:r>
            <a:r>
              <a:rPr lang="en-US" dirty="0"/>
              <a:t> pipeline by checking code during development, building, testing, and verification before release.</a:t>
            </a:r>
            <a:endParaRPr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dirty="0"/>
              <a:t>Current problem: Security flaws may remain in the code if testing and scanning are delayed until the end of development.</a:t>
            </a:r>
          </a:p>
          <a:p>
            <a:r>
              <a:rPr lang="en-US" sz="2000" dirty="0"/>
              <a:t>Benefit of acting now: Early detection reduces repair costs, improves code quality, and lowers the chance of a security incident.</a:t>
            </a:r>
          </a:p>
          <a:p>
            <a:r>
              <a:rPr lang="en-US" sz="2000" dirty="0"/>
              <a:t>Risk of waiting: Vulnerabilities may reach production, where they can cause data loss, system downtime, or expensive rework.</a:t>
            </a:r>
          </a:p>
          <a:p>
            <a:r>
              <a:rPr lang="en-US" sz="2000" dirty="0"/>
              <a:t>Strategy limitation: Automated tools may miss logic errors or produce false warnings, so manual code review is still needed.</a:t>
            </a:r>
          </a:p>
          <a:p>
            <a:r>
              <a:rPr lang="en-US" sz="2000" dirty="0"/>
              <a:t>Recommended steps: Use automated scans during development, require unit testing before release, review high-risk findings, and keep security policies updated.</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dirty="0"/>
              <a:t>Add a formal process for reviewing and updating the security policy.</a:t>
            </a:r>
          </a:p>
          <a:p>
            <a:r>
              <a:rPr lang="en-US" sz="2000" dirty="0"/>
              <a:t>Require regular developer training on secure coding standards.</a:t>
            </a:r>
          </a:p>
          <a:p>
            <a:r>
              <a:rPr lang="en-US" sz="2000" dirty="0"/>
              <a:t>Define how often automated scans and security audits must be completed.</a:t>
            </a:r>
          </a:p>
          <a:p>
            <a:r>
              <a:rPr lang="en-US" sz="2000" dirty="0"/>
              <a:t>Add clear requirements for patching outdated software and dependencies.</a:t>
            </a:r>
          </a:p>
          <a:p>
            <a:r>
              <a:rPr lang="en-US" sz="2000" dirty="0"/>
              <a:t>Require manual code reviews for high-risk areas such as SQL, memory use, and authentication.</a:t>
            </a:r>
          </a:p>
          <a:p>
            <a:r>
              <a:rPr lang="en-US" sz="2000" dirty="0"/>
              <a:t>Continue improving monitoring, logging, and incident-response procedures.</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dirty="0"/>
              <a:t>Green Pace should continue using the SEI CERT C++ secure coding standards.</a:t>
            </a:r>
          </a:p>
          <a:p>
            <a:r>
              <a:rPr lang="en-US" sz="2000" dirty="0"/>
              <a:t>Input validation, safe memory management, parameterized SQL queries, and secure exception handling should remain required.</a:t>
            </a:r>
          </a:p>
          <a:p>
            <a:r>
              <a:rPr lang="en-US" sz="2000" dirty="0"/>
              <a:t>Automated tools such as Cppcheck, SonarQube, GoogleTest, and </a:t>
            </a:r>
            <a:r>
              <a:rPr lang="en-US" sz="2000" dirty="0" err="1"/>
              <a:t>AddressSanitizer</a:t>
            </a:r>
            <a:r>
              <a:rPr lang="en-US" sz="2000" dirty="0"/>
              <a:t> should be part of every development cycle.</a:t>
            </a:r>
          </a:p>
          <a:p>
            <a:r>
              <a:rPr lang="en-US" sz="2000" dirty="0"/>
              <a:t>Encryption and Triple-A policies should be applied to all systems that handle sensitive data.</a:t>
            </a:r>
          </a:p>
          <a:p>
            <a:r>
              <a:rPr lang="en-US" sz="2000" dirty="0"/>
              <a:t>Regular training, policy reviews, testing, and audits will help prevent future security problems.</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McManus, C. (2026). </a:t>
            </a:r>
            <a:r>
              <a:rPr lang="en-US" i="1" dirty="0"/>
              <a:t>Green Pace secure development policy</a:t>
            </a:r>
            <a:r>
              <a:rPr lang="en-US" dirty="0"/>
              <a:t> [Unpublished course project]. Southern New Hampshire University.</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19BA5EBF4EDA448BEBC6F90EE97170" ma:contentTypeVersion="7" ma:contentTypeDescription="Create a new document." ma:contentTypeScope="" ma:versionID="583bde573ac5ca9c0ab95905d5e1d4ee">
  <xsd:schema xmlns:xsd="http://www.w3.org/2001/XMLSchema" xmlns:xs="http://www.w3.org/2001/XMLSchema" xmlns:p="http://schemas.microsoft.com/office/2006/metadata/properties" xmlns:ns3="7cbe25ef-5079-4397-8285-6bc7b147fa65" targetNamespace="http://schemas.microsoft.com/office/2006/metadata/properties" ma:root="true" ma:fieldsID="9819cf4dc1999195b1d49369c7dd9508" ns3:_="">
    <xsd:import namespace="7cbe25ef-5079-4397-8285-6bc7b147fa6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be25ef-5079-4397-8285-6bc7b147fa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E918907-F463-481A-A754-D8CE9164FC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be25ef-5079-4397-8285-6bc7b147fa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microsoft.com/office/2006/metadata/properties"/>
    <ds:schemaRef ds:uri="http://schemas.microsoft.com/office/infopath/2007/PartnerControls"/>
    <ds:schemaRef ds:uri="http://schemas.microsoft.com/office/2006/documentManagement/types"/>
    <ds:schemaRef ds:uri="http://www.w3.org/XML/1998/namespace"/>
    <ds:schemaRef ds:uri="7cbe25ef-5079-4397-8285-6bc7b147fa65"/>
    <ds:schemaRef ds:uri="http://purl.org/dc/elements/1.1/"/>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108</TotalTime>
  <Words>1219</Words>
  <Application>Microsoft Office PowerPoint</Application>
  <PresentationFormat>Widescreen</PresentationFormat>
  <Paragraphs>136</Paragraphs>
  <Slides>18</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Does the Minimum Valid Index Work?</vt:lpstr>
      <vt:lpstr>Does the Maximum Valid Index Work?</vt:lpstr>
      <vt:lpstr>Is a Negative Index Rejected? </vt:lpstr>
      <vt:lpstr>Is an Index Above the Maximum Rejected?</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McManus, Caleb</cp:lastModifiedBy>
  <cp:revision>8</cp:revision>
  <dcterms:created xsi:type="dcterms:W3CDTF">2020-08-19T17:59:24Z</dcterms:created>
  <dcterms:modified xsi:type="dcterms:W3CDTF">2026-06-21T22:48:28Z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0x0101009319BA5EBF4EDA448BEBC6F90EE97170</vt:lpwstr>
  </property>
</Properties>
</file>